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72FAA-7A8C-F6FB-31FD-C7F29DF0C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2467" y="3428998"/>
            <a:ext cx="7230533" cy="2268559"/>
          </a:xfrm>
        </p:spPr>
        <p:txBody>
          <a:bodyPr>
            <a:normAutofit/>
          </a:bodyPr>
          <a:lstStyle/>
          <a:p>
            <a:pPr algn="l"/>
            <a:r>
              <a:rPr lang="ru-RU" sz="54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Слово За Словом </a:t>
            </a:r>
            <a:r>
              <a:rPr lang="ru-RU" sz="36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- </a:t>
            </a:r>
            <a:r>
              <a:rPr lang="ru-RU" sz="3600" dirty="0">
                <a:latin typeface="Bahnschrift Light Condensed" panose="020B0502040204020203" pitchFamily="34" charset="0"/>
              </a:rPr>
              <a:t>интерактивная игра-ребус для голосового ассистента Алиса</a:t>
            </a:r>
            <a:endParaRPr lang="ru-RU" sz="36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616ADC-3458-A4DA-19A5-31C264DE7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1808" y="1557868"/>
            <a:ext cx="5518066" cy="1871132"/>
          </a:xfrm>
        </p:spPr>
        <p:txBody>
          <a:bodyPr>
            <a:noAutofit/>
          </a:bodyPr>
          <a:lstStyle/>
          <a:p>
            <a:r>
              <a:rPr lang="ru-RU" sz="24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Подготовлено учениками курса </a:t>
            </a:r>
            <a:r>
              <a:rPr lang="ru-RU" sz="2400" b="1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Основы промышленного программирования</a:t>
            </a:r>
            <a:r>
              <a:rPr lang="ru-RU" sz="24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Ахмедовым Тимуром </a:t>
            </a:r>
            <a:r>
              <a:rPr lang="ru-RU" sz="24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и </a:t>
            </a:r>
            <a:r>
              <a:rPr lang="ru-RU" sz="2400" b="1" dirty="0" err="1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Будневым</a:t>
            </a:r>
            <a:r>
              <a:rPr lang="ru-RU" sz="2400" b="1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Вадимом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52340-1ACB-E264-D9A2-DA97B7840A9A}"/>
              </a:ext>
            </a:extLst>
          </p:cNvPr>
          <p:cNvSpPr txBox="1"/>
          <p:nvPr/>
        </p:nvSpPr>
        <p:spPr>
          <a:xfrm>
            <a:off x="5096567" y="5952067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 Light Condensed" panose="020B0502040204020203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6828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15D2F-C3F6-2DD5-CC94-CD77C4DD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8" y="364068"/>
            <a:ext cx="9367872" cy="1521218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C28743-A54C-D0E2-662D-3A66E7875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267" y="1253067"/>
            <a:ext cx="9367872" cy="53255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b="1" dirty="0">
                <a:latin typeface="Bahnschrift Light Condensed" panose="020B0502040204020203" pitchFamily="34" charset="0"/>
              </a:rPr>
              <a:t>Цель проекта</a:t>
            </a:r>
          </a:p>
          <a:p>
            <a:r>
              <a:rPr lang="ru-RU" sz="1800" dirty="0">
                <a:latin typeface="Bahnschrift Light Condensed" panose="020B0502040204020203" pitchFamily="34" charset="0"/>
              </a:rPr>
              <a:t>Целью нашего проекта было создать интерактивную игру, которая развивает логику, словарный запас и внимательность через разгадывание ребусов.</a:t>
            </a:r>
          </a:p>
          <a:p>
            <a:pPr marL="0" indent="0" algn="ctr">
              <a:buNone/>
            </a:pPr>
            <a:r>
              <a:rPr lang="ru-RU" sz="1800" b="1" dirty="0">
                <a:latin typeface="Bahnschrift Light Condensed" panose="020B0502040204020203" pitchFamily="34" charset="0"/>
              </a:rPr>
              <a:t>Задачи проекта</a:t>
            </a:r>
            <a:endParaRPr lang="ru-RU" sz="1800" dirty="0">
              <a:latin typeface="Bahnschrift Light Condensed" panose="020B0502040204020203" pitchFamily="34" charset="0"/>
            </a:endParaRPr>
          </a:p>
          <a:p>
            <a:r>
              <a:rPr lang="ru-RU" sz="1800" dirty="0">
                <a:latin typeface="Bahnschrift Light Condensed" panose="020B0502040204020203" pitchFamily="34" charset="0"/>
              </a:rPr>
              <a:t>Развлечение и обучение в голосовом формате</a:t>
            </a:r>
          </a:p>
          <a:p>
            <a:r>
              <a:rPr lang="ru-RU" sz="1800" dirty="0">
                <a:latin typeface="Bahnschrift Light Condensed" panose="020B0502040204020203" pitchFamily="34" charset="0"/>
              </a:rPr>
              <a:t>Тренировка ассоциативного мышления</a:t>
            </a:r>
          </a:p>
          <a:p>
            <a:r>
              <a:rPr lang="ru-RU" sz="1800" dirty="0">
                <a:latin typeface="Bahnschrift Light Condensed" panose="020B0502040204020203" pitchFamily="34" charset="0"/>
              </a:rPr>
              <a:t>Доступная интеллектуальная игра без экрана</a:t>
            </a:r>
          </a:p>
          <a:p>
            <a:r>
              <a:rPr lang="ru-RU" sz="1800" dirty="0">
                <a:latin typeface="Bahnschrift Light Condensed" panose="020B0502040204020203" pitchFamily="34" charset="0"/>
              </a:rPr>
              <a:t>Поддержка разных уровней сложности для всех возрастов</a:t>
            </a:r>
          </a:p>
          <a:p>
            <a:pPr marL="0" indent="0" algn="ctr">
              <a:buNone/>
            </a:pPr>
            <a:r>
              <a:rPr lang="ru-RU" sz="1800" b="1" dirty="0">
                <a:latin typeface="Bahnschrift Light Condensed" panose="020B0502040204020203" pitchFamily="34" charset="0"/>
              </a:rPr>
              <a:t>Целевая аудитория:</a:t>
            </a:r>
          </a:p>
          <a:p>
            <a:r>
              <a:rPr lang="ru-RU" sz="1800" dirty="0">
                <a:latin typeface="Bahnschrift Light Condensed" panose="020B0502040204020203" pitchFamily="34" charset="0"/>
              </a:rPr>
              <a:t>Дети и взрослые, которые хотят провести время с пользой, используя голосового ассистента.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A8AB4-F778-5B01-77BF-D04A7CBA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8" y="808056"/>
            <a:ext cx="9393272" cy="1077229"/>
          </a:xfrm>
        </p:spPr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Архитектура навыка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9EB33B-A07D-0352-CDED-8C3F0C950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481667"/>
            <a:ext cx="7154333" cy="4568277"/>
          </a:xfrm>
        </p:spPr>
        <p:txBody>
          <a:bodyPr>
            <a:norm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Платформа:</a:t>
            </a:r>
            <a:r>
              <a:rPr lang="ru-RU" dirty="0">
                <a:latin typeface="Bahnschrift Light Condensed" panose="020B0502040204020203" pitchFamily="34" charset="0"/>
              </a:rPr>
              <a:t> </a:t>
            </a:r>
            <a:r>
              <a:rPr lang="ru-RU" dirty="0" err="1">
                <a:latin typeface="Bahnschrift Light Condensed" panose="020B0502040204020203" pitchFamily="34" charset="0"/>
              </a:rPr>
              <a:t>Яндекс.Диалоги</a:t>
            </a:r>
            <a:r>
              <a:rPr lang="ru-RU" dirty="0">
                <a:latin typeface="Bahnschrift Light Condensed" panose="020B0502040204020203" pitchFamily="34" charset="0"/>
              </a:rPr>
              <a:t> (Алиса) - это платформа, которая позволяет разработчикам и бизнесу создавать собственные голосовые навыки для Алисы и расширять возможности Умного дома Яндекса.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Серверная часть:</a:t>
            </a:r>
            <a:r>
              <a:rPr lang="ru-RU" dirty="0">
                <a:latin typeface="Bahnschrift Light Condensed" panose="020B0502040204020203" pitchFamily="34" charset="0"/>
              </a:rPr>
              <a:t> </a:t>
            </a:r>
            <a:r>
              <a:rPr lang="ru-RU" dirty="0" err="1">
                <a:latin typeface="Bahnschrift Light Condensed" panose="020B0502040204020203" pitchFamily="34" charset="0"/>
              </a:rPr>
              <a:t>Flask</a:t>
            </a:r>
            <a:r>
              <a:rPr lang="ru-RU" dirty="0">
                <a:latin typeface="Bahnschrift Light Condensed" panose="020B0502040204020203" pitchFamily="34" charset="0"/>
              </a:rPr>
              <a:t> (Python) - это популярный </a:t>
            </a:r>
            <a:r>
              <a:rPr lang="ru-RU" dirty="0" err="1">
                <a:latin typeface="Bahnschrift Light Condensed" panose="020B0502040204020203" pitchFamily="34" charset="0"/>
              </a:rPr>
              <a:t>микрофреймворк</a:t>
            </a:r>
            <a:r>
              <a:rPr lang="ru-RU" dirty="0">
                <a:latin typeface="Bahnschrift Light Condensed" panose="020B0502040204020203" pitchFamily="34" charset="0"/>
              </a:rPr>
              <a:t> для написания веб-приложений на языке </a:t>
            </a:r>
            <a:r>
              <a:rPr lang="ru-RU" b="1" dirty="0">
                <a:latin typeface="Bahnschrift Light Condensed" panose="020B0502040204020203" pitchFamily="34" charset="0"/>
              </a:rPr>
              <a:t>Python</a:t>
            </a:r>
            <a:r>
              <a:rPr lang="ru-RU" dirty="0">
                <a:latin typeface="Bahnschrift Light Condensed" panose="020B0502040204020203" pitchFamily="34" charset="0"/>
              </a:rPr>
              <a:t>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Туннелирование:</a:t>
            </a:r>
            <a:r>
              <a:rPr lang="ru-RU" dirty="0">
                <a:latin typeface="Bahnschrift Light Condensed" panose="020B0502040204020203" pitchFamily="34" charset="0"/>
              </a:rPr>
              <a:t> </a:t>
            </a:r>
            <a:r>
              <a:rPr lang="ru-RU" dirty="0" err="1">
                <a:latin typeface="Bahnschrift Light Condensed" panose="020B0502040204020203" pitchFamily="34" charset="0"/>
              </a:rPr>
              <a:t>tuna</a:t>
            </a:r>
            <a:r>
              <a:rPr lang="ru-RU" dirty="0">
                <a:latin typeface="Bahnschrift Light Condensed" panose="020B0502040204020203" pitchFamily="34" charset="0"/>
              </a:rPr>
              <a:t> (для локального тестирования) - это инструмент для </a:t>
            </a:r>
            <a:r>
              <a:rPr lang="ru-RU" b="1" dirty="0">
                <a:latin typeface="Bahnschrift Light Condensed" panose="020B0502040204020203" pitchFamily="34" charset="0"/>
              </a:rPr>
              <a:t>туннелирования</a:t>
            </a:r>
            <a:r>
              <a:rPr lang="ru-RU" dirty="0">
                <a:latin typeface="Bahnschrift Light Condensed" panose="020B0502040204020203" pitchFamily="34" charset="0"/>
              </a:rPr>
              <a:t>, который позволяет «выставить» ваш локальный сервер (запущенный, например, на </a:t>
            </a:r>
            <a:r>
              <a:rPr lang="ru-RU" dirty="0" err="1">
                <a:latin typeface="Bahnschrift Light Condensed" panose="020B0502040204020203" pitchFamily="34" charset="0"/>
              </a:rPr>
              <a:t>Flask</a:t>
            </a:r>
            <a:r>
              <a:rPr lang="ru-RU" dirty="0">
                <a:latin typeface="Bahnschrift Light Condensed" panose="020B0502040204020203" pitchFamily="34" charset="0"/>
              </a:rPr>
              <a:t>) в интернет.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Хранение сессий:</a:t>
            </a:r>
            <a:r>
              <a:rPr lang="ru-RU" dirty="0">
                <a:latin typeface="Bahnschrift Light Condensed" panose="020B0502040204020203" pitchFamily="34" charset="0"/>
              </a:rPr>
              <a:t> база данных </a:t>
            </a:r>
            <a:r>
              <a:rPr lang="en-US" dirty="0" err="1">
                <a:latin typeface="Bahnschrift Light Condensed" panose="020B0502040204020203" pitchFamily="34" charset="0"/>
              </a:rPr>
              <a:t>rebuses.db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pic>
        <p:nvPicPr>
          <p:cNvPr id="2050" name="Picture 2" descr="Яндекс Диалоги - YouTube">
            <a:extLst>
              <a:ext uri="{FF2B5EF4-FFF2-40B4-BE49-F238E27FC236}">
                <a16:creationId xmlns:a16="http://schemas.microsoft.com/office/drawing/2014/main" id="{DBA5F025-D5E5-4BC0-9462-3ED75F70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428" y="1507280"/>
            <a:ext cx="1850540" cy="185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REST API with Flask : r/Python">
            <a:extLst>
              <a:ext uri="{FF2B5EF4-FFF2-40B4-BE49-F238E27FC236}">
                <a16:creationId xmlns:a16="http://schemas.microsoft.com/office/drawing/2014/main" id="{FAD5B6A7-C722-345C-284B-9F49B12BA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428" y="3357820"/>
            <a:ext cx="1850540" cy="115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UNA — Платформа для разработчиков / Tuna">
            <a:extLst>
              <a:ext uri="{FF2B5EF4-FFF2-40B4-BE49-F238E27FC236}">
                <a16:creationId xmlns:a16="http://schemas.microsoft.com/office/drawing/2014/main" id="{250DD2A0-8A56-0F30-B2D6-0C145A00B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427" y="4511150"/>
            <a:ext cx="1850542" cy="130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08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132D14-98A3-CEF3-4F5C-B3555FE8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Структура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3E2E82-8536-DF63-FD16-FD44E2DDF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8" y="1193799"/>
            <a:ext cx="7027332" cy="5274734"/>
          </a:xfrm>
        </p:spPr>
        <p:txBody>
          <a:bodyPr>
            <a:norm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1. Класс </a:t>
            </a:r>
            <a:r>
              <a:rPr lang="en-US" b="1" dirty="0">
                <a:latin typeface="Bahnschrift Light Condensed" panose="020B0502040204020203" pitchFamily="34" charset="0"/>
              </a:rPr>
              <a:t>Config (</a:t>
            </a:r>
            <a:r>
              <a:rPr lang="ru-RU" b="1" dirty="0">
                <a:latin typeface="Bahnschrift Light Condensed" panose="020B0502040204020203" pitchFamily="34" charset="0"/>
              </a:rPr>
              <a:t>из модуля </a:t>
            </a:r>
            <a:r>
              <a:rPr lang="en-US" b="1" dirty="0">
                <a:latin typeface="Bahnschrift Light Condensed" panose="020B0502040204020203" pitchFamily="34" charset="0"/>
              </a:rPr>
              <a:t>config)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Хранит конфигурацию приложения.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Атрибуты: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en-US" dirty="0">
                <a:latin typeface="Bahnschrift Light Condensed" panose="020B0502040204020203" pitchFamily="34" charset="0"/>
              </a:rPr>
              <a:t>SQLALCHEMY_DATABASE_URI — </a:t>
            </a:r>
            <a:r>
              <a:rPr lang="ru-RU" dirty="0">
                <a:latin typeface="Bahnschrift Light Condensed" panose="020B0502040204020203" pitchFamily="34" charset="0"/>
              </a:rPr>
              <a:t>строка подключения к БД (</a:t>
            </a:r>
            <a:r>
              <a:rPr lang="en-US" dirty="0">
                <a:latin typeface="Bahnschrift Light Condensed" panose="020B0502040204020203" pitchFamily="34" charset="0"/>
              </a:rPr>
              <a:t>SQLite)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SQLALCHEMY_TRACK_MODIFICATIONS — </a:t>
            </a:r>
            <a:r>
              <a:rPr lang="ru-RU" dirty="0">
                <a:latin typeface="Bahnschrift Light Condensed" panose="020B0502040204020203" pitchFamily="34" charset="0"/>
              </a:rPr>
              <a:t>отключение отслеживания (</a:t>
            </a:r>
            <a:r>
              <a:rPr lang="en-US" dirty="0">
                <a:latin typeface="Bahnschrift Light Condensed" panose="020B0502040204020203" pitchFamily="34" charset="0"/>
              </a:rPr>
              <a:t>False)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D85922-F897-93F4-7A49-56ACD5A2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34" y="1751844"/>
            <a:ext cx="5130798" cy="159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3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8FB1F-5D5C-C8B0-C36C-9A8993B4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Структура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570299-15AB-9BAE-A7A7-772CD892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885285"/>
            <a:ext cx="9393272" cy="450704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Bahnschrift Light Condensed" panose="020B0502040204020203" pitchFamily="34" charset="0"/>
              </a:rPr>
              <a:t>2. </a:t>
            </a:r>
            <a:r>
              <a:rPr lang="ru-RU" b="1" dirty="0">
                <a:latin typeface="Bahnschrift Light Condensed" panose="020B0502040204020203" pitchFamily="34" charset="0"/>
              </a:rPr>
              <a:t>Класс </a:t>
            </a:r>
            <a:r>
              <a:rPr lang="en-US" b="1" dirty="0" err="1">
                <a:latin typeface="Bahnschrift Light Condensed" panose="020B0502040204020203" pitchFamily="34" charset="0"/>
              </a:rPr>
              <a:t>UserProgress</a:t>
            </a:r>
            <a:r>
              <a:rPr lang="en-US" b="1" dirty="0">
                <a:latin typeface="Bahnschrift Light Condensed" panose="020B0502040204020203" pitchFamily="34" charset="0"/>
              </a:rPr>
              <a:t> (</a:t>
            </a:r>
            <a:r>
              <a:rPr lang="ru-RU" b="1" dirty="0">
                <a:latin typeface="Bahnschrift Light Condensed" panose="020B0502040204020203" pitchFamily="34" charset="0"/>
              </a:rPr>
              <a:t>из модуля </a:t>
            </a:r>
            <a:r>
              <a:rPr lang="en-US" b="1" dirty="0">
                <a:latin typeface="Bahnschrift Light Condensed" panose="020B0502040204020203" pitchFamily="34" charset="0"/>
              </a:rPr>
              <a:t>models)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</a:t>
            </a:r>
            <a:r>
              <a:rPr lang="en-US" dirty="0">
                <a:latin typeface="Bahnschrift Light Condensed" panose="020B0502040204020203" pitchFamily="34" charset="0"/>
              </a:rPr>
              <a:t>ORM-</a:t>
            </a:r>
            <a:r>
              <a:rPr lang="ru-RU" dirty="0">
                <a:latin typeface="Bahnschrift Light Condensed" panose="020B0502040204020203" pitchFamily="34" charset="0"/>
              </a:rPr>
              <a:t>модель для хранения прогресса пользователя в базе данных.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Атрибуты: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en-US" dirty="0">
                <a:latin typeface="Bahnschrift Light Condensed" panose="020B0502040204020203" pitchFamily="34" charset="0"/>
              </a:rPr>
              <a:t>id — </a:t>
            </a:r>
            <a:r>
              <a:rPr lang="ru-RU" dirty="0">
                <a:latin typeface="Bahnschrift Light Condensed" panose="020B0502040204020203" pitchFamily="34" charset="0"/>
              </a:rPr>
              <a:t>первичный ключ</a:t>
            </a:r>
          </a:p>
          <a:p>
            <a:r>
              <a:rPr lang="en-US" dirty="0" err="1">
                <a:latin typeface="Bahnschrift Light Condensed" panose="020B0502040204020203" pitchFamily="34" charset="0"/>
              </a:rPr>
              <a:t>user_id</a:t>
            </a:r>
            <a:r>
              <a:rPr lang="en-US" dirty="0">
                <a:latin typeface="Bahnschrift Light Condensed" panose="020B0502040204020203" pitchFamily="34" charset="0"/>
              </a:rPr>
              <a:t> — </a:t>
            </a:r>
            <a:r>
              <a:rPr lang="ru-RU" dirty="0">
                <a:latin typeface="Bahnschrift Light Condensed" panose="020B0502040204020203" pitchFamily="34" charset="0"/>
              </a:rPr>
              <a:t>идентификатор пользователя Алисы</a:t>
            </a:r>
          </a:p>
          <a:p>
            <a:r>
              <a:rPr lang="en-US" dirty="0" err="1">
                <a:latin typeface="Bahnschrift Light Condensed" panose="020B0502040204020203" pitchFamily="34" charset="0"/>
              </a:rPr>
              <a:t>total_score</a:t>
            </a:r>
            <a:r>
              <a:rPr lang="en-US" dirty="0">
                <a:latin typeface="Bahnschrift Light Condensed" panose="020B0502040204020203" pitchFamily="34" charset="0"/>
              </a:rPr>
              <a:t> — </a:t>
            </a:r>
            <a:r>
              <a:rPr lang="ru-RU" dirty="0">
                <a:latin typeface="Bahnschrift Light Condensed" panose="020B0502040204020203" pitchFamily="34" charset="0"/>
              </a:rPr>
              <a:t>сумма всех очков за все игры</a:t>
            </a:r>
          </a:p>
          <a:p>
            <a:r>
              <a:rPr lang="en-US" dirty="0" err="1">
                <a:latin typeface="Bahnschrift Light Condensed" panose="020B0502040204020203" pitchFamily="34" charset="0"/>
              </a:rPr>
              <a:t>games_played</a:t>
            </a:r>
            <a:r>
              <a:rPr lang="en-US" dirty="0">
                <a:latin typeface="Bahnschrift Light Condensed" panose="020B0502040204020203" pitchFamily="34" charset="0"/>
              </a:rPr>
              <a:t> — </a:t>
            </a:r>
            <a:r>
              <a:rPr lang="ru-RU" dirty="0">
                <a:latin typeface="Bahnschrift Light Condensed" panose="020B0502040204020203" pitchFamily="34" charset="0"/>
              </a:rPr>
              <a:t>количество сыгранных партий</a:t>
            </a:r>
          </a:p>
          <a:p>
            <a:r>
              <a:rPr lang="en-US" dirty="0" err="1">
                <a:latin typeface="Bahnschrift Light Condensed" panose="020B0502040204020203" pitchFamily="34" charset="0"/>
              </a:rPr>
              <a:t>last_played</a:t>
            </a:r>
            <a:r>
              <a:rPr lang="en-US" dirty="0">
                <a:latin typeface="Bahnschrift Light Condensed" panose="020B0502040204020203" pitchFamily="34" charset="0"/>
              </a:rPr>
              <a:t> — </a:t>
            </a:r>
            <a:r>
              <a:rPr lang="ru-RU" dirty="0">
                <a:latin typeface="Bahnschrift Light Condensed" panose="020B0502040204020203" pitchFamily="34" charset="0"/>
              </a:rPr>
              <a:t>дата последней игры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Связь с БД:</a:t>
            </a:r>
            <a:r>
              <a:rPr lang="ru-RU" dirty="0">
                <a:latin typeface="Bahnschrift Light Condensed" panose="020B0502040204020203" pitchFamily="34" charset="0"/>
              </a:rPr>
              <a:t> через </a:t>
            </a:r>
            <a:r>
              <a:rPr lang="en-US" dirty="0" err="1">
                <a:latin typeface="Bahnschrift Light Condensed" panose="020B0502040204020203" pitchFamily="34" charset="0"/>
              </a:rPr>
              <a:t>db.Model</a:t>
            </a:r>
            <a:r>
              <a:rPr lang="en-US" dirty="0">
                <a:latin typeface="Bahnschrift Light Condensed" panose="020B0502040204020203" pitchFamily="34" charset="0"/>
              </a:rPr>
              <a:t> (</a:t>
            </a:r>
            <a:r>
              <a:rPr lang="en-US" dirty="0" err="1">
                <a:latin typeface="Bahnschrift Light Condensed" panose="020B0502040204020203" pitchFamily="34" charset="0"/>
              </a:rPr>
              <a:t>SQLAlchemy</a:t>
            </a:r>
            <a:r>
              <a:rPr lang="en-US" dirty="0">
                <a:latin typeface="Bahnschrift Light Condensed" panose="020B0502040204020203" pitchFamily="34" charset="0"/>
              </a:rPr>
              <a:t>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4A39AA-AAC3-682D-2CE8-BCD705A72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503" y="2633967"/>
            <a:ext cx="5362692" cy="327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6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5212A-C5AB-3A34-1C9A-DF598761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Основные функции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79D3A-9CAC-BD3F-12E7-AB4A25D069D5}"/>
              </a:ext>
            </a:extLst>
          </p:cNvPr>
          <p:cNvSpPr txBox="1"/>
          <p:nvPr/>
        </p:nvSpPr>
        <p:spPr>
          <a:xfrm>
            <a:off x="1117601" y="1346670"/>
            <a:ext cx="4343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1. </a:t>
            </a:r>
            <a:r>
              <a:rPr lang="ru-RU" b="1" dirty="0" err="1">
                <a:latin typeface="Bahnschrift Light Condensed" panose="020B0502040204020203" pitchFamily="34" charset="0"/>
              </a:rPr>
              <a:t>get_or_create_user</a:t>
            </a:r>
            <a:r>
              <a:rPr lang="ru-RU" b="1" dirty="0">
                <a:latin typeface="Bahnschrift Light Condensed" panose="020B0502040204020203" pitchFamily="34" charset="0"/>
              </a:rPr>
              <a:t>(</a:t>
            </a:r>
            <a:r>
              <a:rPr lang="ru-RU" b="1" dirty="0" err="1">
                <a:latin typeface="Bahnschrift Light Condensed" panose="020B0502040204020203" pitchFamily="34" charset="0"/>
              </a:rPr>
              <a:t>user_id</a:t>
            </a:r>
            <a:r>
              <a:rPr lang="ru-RU" b="1" dirty="0">
                <a:latin typeface="Bahnschrift Light Condensed" panose="020B0502040204020203" pitchFamily="34" charset="0"/>
              </a:rPr>
              <a:t>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Получает пользователя из БД или создаёт нового.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Ищет </a:t>
            </a:r>
            <a:r>
              <a:rPr lang="ru-RU" dirty="0" err="1">
                <a:latin typeface="Bahnschrift Light Condensed" panose="020B0502040204020203" pitchFamily="34" charset="0"/>
              </a:rPr>
              <a:t>UserProgress</a:t>
            </a:r>
            <a:r>
              <a:rPr lang="ru-RU" dirty="0">
                <a:latin typeface="Bahnschrift Light Condensed" panose="020B0502040204020203" pitchFamily="34" charset="0"/>
              </a:rPr>
              <a:t> по </a:t>
            </a:r>
            <a:r>
              <a:rPr lang="ru-RU" dirty="0" err="1">
                <a:latin typeface="Bahnschrift Light Condensed" panose="020B0502040204020203" pitchFamily="34" charset="0"/>
              </a:rPr>
              <a:t>user_id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Если не найден — создаёт новую запись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Сохраняет в БД и возвращает объект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3F256-C1CC-3C04-5730-AFB6EC2458C1}"/>
              </a:ext>
            </a:extLst>
          </p:cNvPr>
          <p:cNvSpPr txBox="1"/>
          <p:nvPr/>
        </p:nvSpPr>
        <p:spPr>
          <a:xfrm>
            <a:off x="1117601" y="3564467"/>
            <a:ext cx="43433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2. </a:t>
            </a:r>
            <a:r>
              <a:rPr lang="ru-RU" b="1" dirty="0" err="1">
                <a:latin typeface="Bahnschrift Light Condensed" panose="020B0502040204020203" pitchFamily="34" charset="0"/>
              </a:rPr>
              <a:t>main</a:t>
            </a:r>
            <a:r>
              <a:rPr lang="ru-RU" b="1" dirty="0">
                <a:latin typeface="Bahnschrift Light Condensed" panose="020B0502040204020203" pitchFamily="34" charset="0"/>
              </a:rPr>
              <a:t>() — </a:t>
            </a:r>
            <a:r>
              <a:rPr lang="ru-RU" b="1" dirty="0" err="1">
                <a:latin typeface="Bahnschrift Light Condensed" panose="020B0502040204020203" pitchFamily="34" charset="0"/>
              </a:rPr>
              <a:t>эндпоинт</a:t>
            </a:r>
            <a:r>
              <a:rPr lang="ru-RU" b="1" dirty="0">
                <a:latin typeface="Bahnschrift Light Condensed" panose="020B0502040204020203" pitchFamily="34" charset="0"/>
              </a:rPr>
              <a:t> /</a:t>
            </a:r>
            <a:r>
              <a:rPr lang="ru-RU" b="1" dirty="0" err="1">
                <a:latin typeface="Bahnschrift Light Condensed" panose="020B0502040204020203" pitchFamily="34" charset="0"/>
              </a:rPr>
              <a:t>post</a:t>
            </a:r>
            <a:endParaRPr lang="ru-RU" b="1" dirty="0">
              <a:latin typeface="Bahnschrift Light Condensed" panose="020B0502040204020203" pitchFamily="34" charset="0"/>
            </a:endParaRP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Точка входа для всех запросов от Алисы.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Формирует базовый JSON-ответ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Вызывает </a:t>
            </a:r>
            <a:r>
              <a:rPr lang="ru-RU" dirty="0" err="1">
                <a:latin typeface="Bahnschrift Light Condensed" panose="020B0502040204020203" pitchFamily="34" charset="0"/>
              </a:rPr>
              <a:t>handle_dialog</a:t>
            </a:r>
            <a:r>
              <a:rPr lang="ru-RU" dirty="0">
                <a:latin typeface="Bahnschrift Light Condensed" panose="020B0502040204020203" pitchFamily="34" charset="0"/>
              </a:rPr>
              <a:t>()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Возвращает </a:t>
            </a:r>
            <a:r>
              <a:rPr lang="ru-RU" dirty="0" err="1">
                <a:latin typeface="Bahnschrift Light Condensed" panose="020B0502040204020203" pitchFamily="34" charset="0"/>
              </a:rPr>
              <a:t>jsonify</a:t>
            </a:r>
            <a:r>
              <a:rPr lang="ru-RU" dirty="0">
                <a:latin typeface="Bahnschrift Light Condensed" panose="020B0502040204020203" pitchFamily="34" charset="0"/>
              </a:rPr>
              <a:t>(</a:t>
            </a:r>
            <a:r>
              <a:rPr lang="ru-RU" dirty="0" err="1">
                <a:latin typeface="Bahnschrift Light Condensed" panose="020B0502040204020203" pitchFamily="34" charset="0"/>
              </a:rPr>
              <a:t>response</a:t>
            </a:r>
            <a:r>
              <a:rPr lang="ru-RU" dirty="0">
                <a:latin typeface="Bahnschrift Light Condensed" panose="020B0502040204020203" pitchFamily="34" charset="0"/>
              </a:rPr>
              <a:t>)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9701A-8AB8-370D-EEF1-F0CF18442E83}"/>
              </a:ext>
            </a:extLst>
          </p:cNvPr>
          <p:cNvSpPr txBox="1"/>
          <p:nvPr/>
        </p:nvSpPr>
        <p:spPr>
          <a:xfrm>
            <a:off x="5703169" y="1346670"/>
            <a:ext cx="53712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3. </a:t>
            </a:r>
            <a:r>
              <a:rPr lang="ru-RU" b="1" dirty="0" err="1">
                <a:latin typeface="Bahnschrift Light Condensed" panose="020B0502040204020203" pitchFamily="34" charset="0"/>
              </a:rPr>
              <a:t>handle_dialog</a:t>
            </a:r>
            <a:r>
              <a:rPr lang="ru-RU" b="1" dirty="0">
                <a:latin typeface="Bahnschrift Light Condensed" panose="020B0502040204020203" pitchFamily="34" charset="0"/>
              </a:rPr>
              <a:t>(</a:t>
            </a:r>
            <a:r>
              <a:rPr lang="ru-RU" b="1" dirty="0" err="1">
                <a:latin typeface="Bahnschrift Light Condensed" panose="020B0502040204020203" pitchFamily="34" charset="0"/>
              </a:rPr>
              <a:t>res</a:t>
            </a:r>
            <a:r>
              <a:rPr lang="ru-RU" b="1" dirty="0">
                <a:latin typeface="Bahnschrift Light Condensed" panose="020B0502040204020203" pitchFamily="34" charset="0"/>
              </a:rPr>
              <a:t>, </a:t>
            </a:r>
            <a:r>
              <a:rPr lang="ru-RU" b="1" dirty="0" err="1">
                <a:latin typeface="Bahnschrift Light Condensed" panose="020B0502040204020203" pitchFamily="34" charset="0"/>
              </a:rPr>
              <a:t>req</a:t>
            </a:r>
            <a:r>
              <a:rPr lang="ru-RU" b="1" dirty="0">
                <a:latin typeface="Bahnschrift Light Condensed" panose="020B0502040204020203" pitchFamily="34" charset="0"/>
              </a:rPr>
              <a:t>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Главная логика обработки диалога (сердце приложения).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Получает </a:t>
            </a:r>
            <a:r>
              <a:rPr lang="ru-RU" dirty="0" err="1">
                <a:latin typeface="Bahnschrift Light Condensed" panose="020B0502040204020203" pitchFamily="34" charset="0"/>
              </a:rPr>
              <a:t>user_id</a:t>
            </a:r>
            <a:r>
              <a:rPr lang="ru-RU" dirty="0">
                <a:latin typeface="Bahnschrift Light Condensed" panose="020B0502040204020203" pitchFamily="34" charset="0"/>
              </a:rPr>
              <a:t> и команду пользователя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Вызывает </a:t>
            </a:r>
            <a:r>
              <a:rPr lang="ru-RU" dirty="0" err="1">
                <a:latin typeface="Bahnschrift Light Condensed" panose="020B0502040204020203" pitchFamily="34" charset="0"/>
              </a:rPr>
              <a:t>get_or_create_user</a:t>
            </a:r>
            <a:r>
              <a:rPr lang="ru-RU" dirty="0">
                <a:latin typeface="Bahnschrift Light Condensed" panose="020B0502040204020203" pitchFamily="34" charset="0"/>
              </a:rPr>
              <a:t>() для работы с БД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Если сессия новая — предлагает выбрать сложность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Если выбор сложности — фильтрует ребусы по длине (до 5 букв — лёгкий, более 5 — сложный)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Обрабатывает команды: выход, все очки, подсказка, дальше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Проверяет ответ и начисляет очки (2 — с 1 попытки, 1 — со 2, 0 — после подсказки или 3 попытки)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При завершении вызывает </a:t>
            </a:r>
            <a:r>
              <a:rPr lang="ru-RU" dirty="0" err="1">
                <a:latin typeface="Bahnschrift Light Condensed" panose="020B0502040204020203" pitchFamily="34" charset="0"/>
              </a:rPr>
              <a:t>save_game_result</a:t>
            </a:r>
            <a:r>
              <a:rPr lang="ru-RU" dirty="0">
                <a:latin typeface="Bahnschrift Light Condensed" panose="020B0502040204020203" pitchFamily="34" charset="0"/>
              </a:rPr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42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4DEF4-A1DF-B3A7-B6E1-863C0C87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Вспомогательные 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94F50-B997-BEA2-37DC-3BE0C6E69AD6}"/>
              </a:ext>
            </a:extLst>
          </p:cNvPr>
          <p:cNvSpPr txBox="1"/>
          <p:nvPr/>
        </p:nvSpPr>
        <p:spPr>
          <a:xfrm>
            <a:off x="1303867" y="1659467"/>
            <a:ext cx="37481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1. </a:t>
            </a:r>
            <a:r>
              <a:rPr lang="en-US" b="1" dirty="0" err="1">
                <a:latin typeface="Bahnschrift Light Condensed" panose="020B0502040204020203" pitchFamily="34" charset="0"/>
              </a:rPr>
              <a:t>save_game_result</a:t>
            </a:r>
            <a:r>
              <a:rPr lang="en-US" b="1" dirty="0">
                <a:latin typeface="Bahnschrift Light Condensed" panose="020B0502040204020203" pitchFamily="34" charset="0"/>
              </a:rPr>
              <a:t>(user, state)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Сохраняет результаты игры в БД.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Добавляет очки текущей игры к </a:t>
            </a:r>
            <a:r>
              <a:rPr lang="en-US" dirty="0" err="1">
                <a:latin typeface="Bahnschrift Light Condensed" panose="020B0502040204020203" pitchFamily="34" charset="0"/>
              </a:rPr>
              <a:t>total_score</a:t>
            </a:r>
            <a:endParaRPr lang="en-US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Увеличивает </a:t>
            </a:r>
            <a:r>
              <a:rPr lang="en-US" dirty="0" err="1">
                <a:latin typeface="Bahnschrift Light Condensed" panose="020B0502040204020203" pitchFamily="34" charset="0"/>
              </a:rPr>
              <a:t>games_played</a:t>
            </a:r>
            <a:r>
              <a:rPr lang="en-US" dirty="0">
                <a:latin typeface="Bahnschrift Light Condensed" panose="020B0502040204020203" pitchFamily="34" charset="0"/>
              </a:rPr>
              <a:t> </a:t>
            </a:r>
            <a:r>
              <a:rPr lang="ru-RU" dirty="0">
                <a:latin typeface="Bahnschrift Light Condensed" panose="020B0502040204020203" pitchFamily="34" charset="0"/>
              </a:rPr>
              <a:t>на 1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Обновляет </a:t>
            </a:r>
            <a:r>
              <a:rPr lang="en-US" dirty="0" err="1">
                <a:latin typeface="Bahnschrift Light Condensed" panose="020B0502040204020203" pitchFamily="34" charset="0"/>
              </a:rPr>
              <a:t>last_played</a:t>
            </a:r>
            <a:r>
              <a:rPr lang="en-US" dirty="0">
                <a:latin typeface="Bahnschrift Light Condensed" panose="020B0502040204020203" pitchFamily="34" charset="0"/>
              </a:rPr>
              <a:t> </a:t>
            </a:r>
            <a:r>
              <a:rPr lang="ru-RU" dirty="0">
                <a:latin typeface="Bahnschrift Light Condensed" panose="020B0502040204020203" pitchFamily="34" charset="0"/>
              </a:rPr>
              <a:t>текущей датой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Сохраняет изменения в БД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CD51A-3924-DF7F-4BCE-6CF35A869AE8}"/>
              </a:ext>
            </a:extLst>
          </p:cNvPr>
          <p:cNvSpPr txBox="1"/>
          <p:nvPr/>
        </p:nvSpPr>
        <p:spPr>
          <a:xfrm>
            <a:off x="1303867" y="3690792"/>
            <a:ext cx="40623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2. </a:t>
            </a:r>
            <a:r>
              <a:rPr lang="ru-RU" b="1" dirty="0" err="1">
                <a:latin typeface="Bahnschrift Light Condensed" panose="020B0502040204020203" pitchFamily="34" charset="0"/>
              </a:rPr>
              <a:t>next_rebus</a:t>
            </a:r>
            <a:r>
              <a:rPr lang="ru-RU" b="1" dirty="0">
                <a:latin typeface="Bahnschrift Light Condensed" panose="020B0502040204020203" pitchFamily="34" charset="0"/>
              </a:rPr>
              <a:t>(</a:t>
            </a:r>
            <a:r>
              <a:rPr lang="ru-RU" b="1" dirty="0" err="1">
                <a:latin typeface="Bahnschrift Light Condensed" panose="020B0502040204020203" pitchFamily="34" charset="0"/>
              </a:rPr>
              <a:t>res</a:t>
            </a:r>
            <a:r>
              <a:rPr lang="ru-RU" b="1" dirty="0">
                <a:latin typeface="Bahnschrift Light Condensed" panose="020B0502040204020203" pitchFamily="34" charset="0"/>
              </a:rPr>
              <a:t>, </a:t>
            </a:r>
            <a:r>
              <a:rPr lang="ru-RU" b="1" dirty="0" err="1">
                <a:latin typeface="Bahnschrift Light Condensed" panose="020B0502040204020203" pitchFamily="34" charset="0"/>
              </a:rPr>
              <a:t>state</a:t>
            </a:r>
            <a:r>
              <a:rPr lang="ru-RU" b="1" dirty="0">
                <a:latin typeface="Bahnschrift Light Condensed" panose="020B0502040204020203" pitchFamily="34" charset="0"/>
              </a:rPr>
              <a:t>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Переход к следующему ребусу.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Сбрасывает </a:t>
            </a:r>
            <a:r>
              <a:rPr lang="ru-RU" dirty="0" err="1">
                <a:latin typeface="Bahnschrift Light Condensed" panose="020B0502040204020203" pitchFamily="34" charset="0"/>
              </a:rPr>
              <a:t>attempts</a:t>
            </a:r>
            <a:r>
              <a:rPr lang="ru-RU" dirty="0">
                <a:latin typeface="Bahnschrift Light Condensed" panose="020B0502040204020203" pitchFamily="34" charset="0"/>
              </a:rPr>
              <a:t> = 0 и </a:t>
            </a:r>
            <a:r>
              <a:rPr lang="ru-RU" dirty="0" err="1">
                <a:latin typeface="Bahnschrift Light Condensed" panose="020B0502040204020203" pitchFamily="34" charset="0"/>
              </a:rPr>
              <a:t>used_hint</a:t>
            </a:r>
            <a:r>
              <a:rPr lang="ru-RU" dirty="0">
                <a:latin typeface="Bahnschrift Light Condensed" panose="020B0502040204020203" pitchFamily="34" charset="0"/>
              </a:rPr>
              <a:t> = </a:t>
            </a:r>
            <a:r>
              <a:rPr lang="ru-RU" dirty="0" err="1">
                <a:latin typeface="Bahnschrift Light Condensed" panose="020B0502040204020203" pitchFamily="34" charset="0"/>
              </a:rPr>
              <a:t>False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Случайно выбирает новый ребус из текущего пула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Вызывает </a:t>
            </a:r>
            <a:r>
              <a:rPr lang="ru-RU" dirty="0" err="1">
                <a:latin typeface="Bahnschrift Light Condensed" panose="020B0502040204020203" pitchFamily="34" charset="0"/>
              </a:rPr>
              <a:t>show_rebus</a:t>
            </a:r>
            <a:r>
              <a:rPr lang="ru-RU" dirty="0">
                <a:latin typeface="Bahnschrift Light Condensed" panose="020B0502040204020203" pitchFamily="34" charset="0"/>
              </a:rPr>
              <a:t>() для отображения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38BC3-F2D2-243B-CA9B-3B19F43BD012}"/>
              </a:ext>
            </a:extLst>
          </p:cNvPr>
          <p:cNvSpPr txBox="1"/>
          <p:nvPr/>
        </p:nvSpPr>
        <p:spPr>
          <a:xfrm>
            <a:off x="5439228" y="1659467"/>
            <a:ext cx="55759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Bahnschrift Light Condensed" panose="020B0502040204020203" pitchFamily="34" charset="0"/>
              </a:rPr>
              <a:t>3. </a:t>
            </a:r>
            <a:r>
              <a:rPr lang="ru-RU" b="1" dirty="0" err="1">
                <a:latin typeface="Bahnschrift Light Condensed" panose="020B0502040204020203" pitchFamily="34" charset="0"/>
              </a:rPr>
              <a:t>show_rebus</a:t>
            </a:r>
            <a:r>
              <a:rPr lang="ru-RU" b="1" dirty="0">
                <a:latin typeface="Bahnschrift Light Condensed" panose="020B0502040204020203" pitchFamily="34" charset="0"/>
              </a:rPr>
              <a:t>(</a:t>
            </a:r>
            <a:r>
              <a:rPr lang="ru-RU" b="1" dirty="0" err="1">
                <a:latin typeface="Bahnschrift Light Condensed" panose="020B0502040204020203" pitchFamily="34" charset="0"/>
              </a:rPr>
              <a:t>res</a:t>
            </a:r>
            <a:r>
              <a:rPr lang="ru-RU" b="1" dirty="0">
                <a:latin typeface="Bahnschrift Light Condensed" panose="020B0502040204020203" pitchFamily="34" charset="0"/>
              </a:rPr>
              <a:t>, </a:t>
            </a:r>
            <a:r>
              <a:rPr lang="ru-RU" b="1" dirty="0" err="1">
                <a:latin typeface="Bahnschrift Light Condensed" panose="020B0502040204020203" pitchFamily="34" charset="0"/>
              </a:rPr>
              <a:t>state</a:t>
            </a:r>
            <a:r>
              <a:rPr lang="ru-RU" b="1" dirty="0">
                <a:latin typeface="Bahnschrift Light Condensed" panose="020B0502040204020203" pitchFamily="34" charset="0"/>
              </a:rPr>
              <a:t>, </a:t>
            </a:r>
            <a:r>
              <a:rPr lang="ru-RU" b="1" dirty="0" err="1">
                <a:latin typeface="Bahnschrift Light Condensed" panose="020B0502040204020203" pitchFamily="34" charset="0"/>
              </a:rPr>
              <a:t>append_text</a:t>
            </a:r>
            <a:r>
              <a:rPr lang="ru-RU" b="1" dirty="0">
                <a:latin typeface="Bahnschrift Light Condensed" panose="020B0502040204020203" pitchFamily="34" charset="0"/>
              </a:rPr>
              <a:t>=True)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Назначение:</a:t>
            </a:r>
            <a:r>
              <a:rPr lang="ru-RU" dirty="0">
                <a:latin typeface="Bahnschrift Light Condensed" panose="020B0502040204020203" pitchFamily="34" charset="0"/>
              </a:rPr>
              <a:t> Отображает текущий ребус пользователю.</a:t>
            </a:r>
          </a:p>
          <a:p>
            <a:r>
              <a:rPr lang="ru-RU" b="1" dirty="0">
                <a:latin typeface="Bahnschrift Light Condensed" panose="020B0502040204020203" pitchFamily="34" charset="0"/>
              </a:rPr>
              <a:t>Логика:</a:t>
            </a:r>
            <a:endParaRPr lang="ru-RU" dirty="0">
              <a:latin typeface="Bahnschrift Light Condensed" panose="020B0502040204020203" pitchFamily="34" charset="0"/>
            </a:endParaRPr>
          </a:p>
          <a:p>
            <a:r>
              <a:rPr lang="ru-RU" dirty="0">
                <a:latin typeface="Bahnschrift Light Condensed" panose="020B0502040204020203" pitchFamily="34" charset="0"/>
              </a:rPr>
              <a:t>Добавляет текст ребуса в ответ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Если есть </a:t>
            </a:r>
            <a:r>
              <a:rPr lang="ru-RU" dirty="0" err="1">
                <a:latin typeface="Bahnschrift Light Condensed" panose="020B0502040204020203" pitchFamily="34" charset="0"/>
              </a:rPr>
              <a:t>image_id</a:t>
            </a:r>
            <a:r>
              <a:rPr lang="ru-RU" dirty="0">
                <a:latin typeface="Bahnschrift Light Condensed" panose="020B0502040204020203" pitchFamily="34" charset="0"/>
              </a:rPr>
              <a:t> — добавляет карточку </a:t>
            </a:r>
            <a:r>
              <a:rPr lang="ru-RU" dirty="0" err="1">
                <a:latin typeface="Bahnschrift Light Condensed" panose="020B0502040204020203" pitchFamily="34" charset="0"/>
              </a:rPr>
              <a:t>BigImage</a:t>
            </a:r>
            <a:r>
              <a:rPr lang="ru-RU" dirty="0">
                <a:latin typeface="Bahnschrift Light Condensed" panose="020B0502040204020203" pitchFamily="34" charset="0"/>
              </a:rPr>
              <a:t> с картинкой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Добавляет кнопки: Подсказка, Все очки, Дальше, Выход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27F47C-61C5-1C0B-1561-D0182E67E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228" y="3660790"/>
            <a:ext cx="5226712" cy="262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3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D782F-54EC-1EA7-7FD8-C269C9CF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00CEB7-5D9B-D6B8-18A6-C22B79D1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667" y="1312333"/>
            <a:ext cx="9342472" cy="5367867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ru-RU" sz="3600" b="1" dirty="0">
                <a:latin typeface="Bahnschrift Light Condensed" panose="020B0502040204020203" pitchFamily="34" charset="0"/>
              </a:rPr>
              <a:t>Результаты работы</a:t>
            </a:r>
            <a:endParaRPr lang="ru-RU" sz="3600" dirty="0">
              <a:latin typeface="Bahnschrift Light Condensed" panose="020B0502040204020203" pitchFamily="34" charset="0"/>
            </a:endParaRPr>
          </a:p>
          <a:p>
            <a:r>
              <a:rPr lang="ru-RU" sz="3600" dirty="0">
                <a:latin typeface="Bahnschrift Light Condensed" panose="020B0502040204020203" pitchFamily="34" charset="0"/>
              </a:rPr>
              <a:t>Удалось реализовать полноценную голосовую игру с графическими ребусами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Алиса успешно распознаёт ответы и команды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Пользователь получает наглядную обратную связь (очки, правильный ответ, подсказки)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Игра поддерживает </a:t>
            </a:r>
            <a:r>
              <a:rPr lang="ru-RU" sz="3600" dirty="0" err="1">
                <a:latin typeface="Bahnschrift Light Condensed" panose="020B0502040204020203" pitchFamily="34" charset="0"/>
              </a:rPr>
              <a:t>двухпользовательский</a:t>
            </a:r>
            <a:r>
              <a:rPr lang="ru-RU" sz="3600" dirty="0">
                <a:latin typeface="Bahnschrift Light Condensed" panose="020B0502040204020203" pitchFamily="34" charset="0"/>
              </a:rPr>
              <a:t> режим через уникальные сессии</a:t>
            </a:r>
          </a:p>
          <a:p>
            <a:pPr marL="0" indent="0" algn="ctr">
              <a:buNone/>
            </a:pPr>
            <a:r>
              <a:rPr lang="ru-RU" sz="3600" b="1" dirty="0">
                <a:latin typeface="Bahnschrift Light Condensed" panose="020B0502040204020203" pitchFamily="34" charset="0"/>
              </a:rPr>
              <a:t>Возможности для доработки и развития:</a:t>
            </a:r>
            <a:endParaRPr lang="ru-RU" sz="3600" dirty="0">
              <a:latin typeface="Bahnschrift Light Condensed" panose="020B0502040204020203" pitchFamily="34" charset="0"/>
            </a:endParaRPr>
          </a:p>
          <a:p>
            <a:r>
              <a:rPr lang="ru-RU" sz="3600" dirty="0">
                <a:latin typeface="Bahnschrift Light Condensed" panose="020B0502040204020203" pitchFamily="34" charset="0"/>
              </a:rPr>
              <a:t>Расширить базу ребусов до 100+ слов (подгрузка из файла)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Ввести таблицу рекордов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Добавить звуковое сопровождение (SSML)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Добавить возможность выбора тематики отгадываемых слов</a:t>
            </a:r>
          </a:p>
          <a:p>
            <a:r>
              <a:rPr lang="ru-RU" sz="3600" dirty="0">
                <a:latin typeface="Bahnschrift Light Condensed" panose="020B0502040204020203" pitchFamily="34" charset="0"/>
              </a:rPr>
              <a:t>Добавить таймер на ответ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3D8298-E1C6-ED3C-55BC-03E8B09C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315" y="4779947"/>
            <a:ext cx="3459465" cy="153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9C649-4114-F0DC-927F-375307CB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 Condensed" panose="020B0502040204020203" pitchFamily="34" charset="0"/>
              </a:rPr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95B405-2C71-37A5-FCF9-281DA5F0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Мемы про умную колонку от «Яндекса» — Выбирай.ру — Челябинск">
            <a:extLst>
              <a:ext uri="{FF2B5EF4-FFF2-40B4-BE49-F238E27FC236}">
                <a16:creationId xmlns:a16="http://schemas.microsoft.com/office/drawing/2014/main" id="{D23A24CC-C664-6C49-A0A7-0BA507D74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02342"/>
            <a:ext cx="60960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230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{F0606831-9A8A-41AC-AAB9-3E46DCDB32C4}TF37254b02-f5b5-44b0-803d-e6af9466a02430b15390-63aae61ef10a</Template>
  <TotalTime>87</TotalTime>
  <Words>706</Words>
  <Application>Microsoft Office PowerPoint</Application>
  <PresentationFormat>Широкоэкранный</PresentationFormat>
  <Paragraphs>91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Bahnschrift Light Condensed</vt:lpstr>
      <vt:lpstr>MS Shell Dlg 2</vt:lpstr>
      <vt:lpstr>Wingdings</vt:lpstr>
      <vt:lpstr>Wingdings 3</vt:lpstr>
      <vt:lpstr>Мэдисон</vt:lpstr>
      <vt:lpstr>Слово За Словом - интерактивная игра-ребус для голосового ассистента Алиса</vt:lpstr>
      <vt:lpstr>Введение</vt:lpstr>
      <vt:lpstr>Архитектура навыка</vt:lpstr>
      <vt:lpstr>Структура классов</vt:lpstr>
      <vt:lpstr>Структура классов</vt:lpstr>
      <vt:lpstr>Основные функции</vt:lpstr>
      <vt:lpstr>Вспомогательные функции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akhmedovtimur444@gmail.com</dc:creator>
  <cp:lastModifiedBy>akhmedovtimur444@gmail.com</cp:lastModifiedBy>
  <cp:revision>1</cp:revision>
  <dcterms:created xsi:type="dcterms:W3CDTF">2026-05-07T06:34:19Z</dcterms:created>
  <dcterms:modified xsi:type="dcterms:W3CDTF">2026-05-07T08:02:06Z</dcterms:modified>
</cp:coreProperties>
</file>